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</p:sldIdLst>
  <p:sldSz cx="12192000" cy="6858000"/>
  <p:notesSz cx="6858000" cy="9144000"/>
  <p:embeddedFontLst>
    <p:embeddedFont>
      <p:font typeface="Anuphan" pitchFamily="2" charset="-34"/>
      <p:regular r:id="rId15"/>
      <p:bold r:id="rId16"/>
    </p:embeddedFont>
    <p:embeddedFont>
      <p:font typeface="Bahnschrift Light" panose="020B0502040204020203" pitchFamily="3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9BE23-9E98-F884-7ADA-EB012F053C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E54D80-B11E-38FE-836A-E0DFBA0CA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36EBE-537E-ACEF-6790-1176DDE37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8CDDB-820E-43FE-983B-5D4895E9E6F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51F58-4035-D38E-2664-8B2FEFD2C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89056-66D7-0DEA-77A0-C9E7BF1E5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6DA65-B836-4229-9067-3EC2F5E1B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127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A81CC-B647-E6BB-4886-B014C86FA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FD53D-5DF9-3C54-D7D6-CD8E201E5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4A89D-CA4E-CA4B-10DE-31CA02C01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8CDDB-820E-43FE-983B-5D4895E9E6F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69E19-BF75-1E4A-407C-7FFD14F54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0E05F-E894-7860-5CB4-59D0359EA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6DA65-B836-4229-9067-3EC2F5E1B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57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D3708-CA43-735F-9DDD-12B361BC3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92D17D-40A4-C33F-5E3C-38C777EBC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2BD7A-EB46-3415-2D95-413E854B4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8CDDB-820E-43FE-983B-5D4895E9E6F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B64C1-6E47-66BB-8A35-AC08FA8F2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CE94E-6AD6-0304-838C-490E728EB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6DA65-B836-4229-9067-3EC2F5E1B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447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2F09C-0486-ECF6-ED99-5E35B2091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498F9-4C05-F84F-6750-CCF73F19CB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68FF90-F8D4-809F-C4C6-B8E01C46B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6CA87-1B4E-5A01-63FA-BD034B159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8CDDB-820E-43FE-983B-5D4895E9E6F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D5F95-05CD-A73B-8A18-71A9AF55E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C7741-57CB-43F4-16C4-E08D519C0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6DA65-B836-4229-9067-3EC2F5E1B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88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D81E7-B5A9-72CF-B020-85BA2FAA6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F6070-F2D7-AF87-070C-62A448211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85160-73C6-E601-C979-77868EFF0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05962-C6C8-1675-3303-8A40916915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D7DD69-B2C2-307D-5212-0260C65BD9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7BEBC9-B42E-DC8F-E4DE-4563994AB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8CDDB-820E-43FE-983B-5D4895E9E6F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9C8AA0-5315-C6B0-DF98-D6DD94F49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3CF337-8CCB-42E4-1044-F23CDD5D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6DA65-B836-4229-9067-3EC2F5E1B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18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6AE52-315F-CB64-8DD9-8D0E03612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8C2899-43BA-3CA1-76D4-7A0191BF3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8CDDB-820E-43FE-983B-5D4895E9E6F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AB8D89-BBB4-CB75-5DA6-DE547FF74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A919E6-44C4-1285-EEEE-13BE654D3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6DA65-B836-4229-9067-3EC2F5E1B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877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242BA9-1186-D5EE-561D-724F4B37B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8CDDB-820E-43FE-983B-5D4895E9E6F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C9D63-F790-80A4-02CF-A5B9E4828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9DBA0-AAE2-8DD5-6558-EE2738C4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6DA65-B836-4229-9067-3EC2F5E1B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598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D69A1-2BAB-7219-1611-0412DB6CC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CA40A-A4F5-0C33-B02D-B590C9089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CD7E75-8EDA-64E4-C764-F200536BC2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1F6EC-F7A7-2473-E1FC-D66E5E6C7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8CDDB-820E-43FE-983B-5D4895E9E6F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2D744-3FA2-28BF-2A77-F4D3ADE93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4CDA2-87F0-0A80-E16B-0C74F7943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6DA65-B836-4229-9067-3EC2F5E1B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704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47FCC-B4FA-787A-29AF-E79CD9F2C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CE7872-5BCF-B01D-C620-590440D0A6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35F352-22A3-B98D-D359-4822F2D04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878E2-B41C-1972-3704-768F1E27B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8CDDB-820E-43FE-983B-5D4895E9E6F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8AC05-F420-AAC4-56F8-475BB4194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A4E72D-5A0E-3972-5EF6-B8F3C0D18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6DA65-B836-4229-9067-3EC2F5E1B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55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7A0C9-250C-D9D0-731F-EDD176ABE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F818C1-F608-4BB3-DE7F-7D5EA54915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6E998-C59B-BFDA-83BF-509EFED3E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8CDDB-820E-43FE-983B-5D4895E9E6F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13E19-0824-0A12-E8CD-DA888CE47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512B2-3008-9164-5AAF-631FD838B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6DA65-B836-4229-9067-3EC2F5E1B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894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BA0A60-FB46-5A23-FEFE-AE6EA351D5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C090C-1F00-DDE4-A620-F96ADA69F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CA8D3-5C4F-23AC-D963-06CBE9D8F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8CDDB-820E-43FE-983B-5D4895E9E6F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903CC-8834-9129-C998-912578546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30A0-E7B1-7080-BA73-578B61BC5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6DA65-B836-4229-9067-3EC2F5E1B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059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CA0C90-EDE0-D357-2F34-922832700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73489-C04B-0C93-11FF-6F2AFFF3E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088DB-40B9-02DF-0914-7AB31C9EB3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E8CDDB-820E-43FE-983B-5D4895E9E6F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94868-20EF-8B8D-A8BE-0C680F6460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99FAC-6A16-773F-DFAD-91BB302BDE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F6DA65-B836-4229-9067-3EC2F5E1B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3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8267A6-3D56-0EA0-0EE4-5D374267A89D}"/>
              </a:ext>
            </a:extLst>
          </p:cNvPr>
          <p:cNvSpPr txBox="1"/>
          <p:nvPr/>
        </p:nvSpPr>
        <p:spPr>
          <a:xfrm>
            <a:off x="1567543" y="2828835"/>
            <a:ext cx="89329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Basic Pandas</a:t>
            </a:r>
          </a:p>
        </p:txBody>
      </p:sp>
    </p:spTree>
    <p:extLst>
      <p:ext uri="{BB962C8B-B14F-4D97-AF65-F5344CB8AC3E}">
        <p14:creationId xmlns:p14="http://schemas.microsoft.com/office/powerpoint/2010/main" val="2517302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3AB28-AAD7-931F-8633-F788F5873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931F3F-1126-8C8F-0F3E-1AD180B94C20}"/>
              </a:ext>
            </a:extLst>
          </p:cNvPr>
          <p:cNvSpPr txBox="1"/>
          <p:nvPr/>
        </p:nvSpPr>
        <p:spPr>
          <a:xfrm>
            <a:off x="796412" y="1118022"/>
            <a:ext cx="10540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Example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C5DDE7-31F1-0998-3A72-118640407F2B}"/>
              </a:ext>
            </a:extLst>
          </p:cNvPr>
          <p:cNvSpPr txBox="1"/>
          <p:nvPr/>
        </p:nvSpPr>
        <p:spPr>
          <a:xfrm>
            <a:off x="796411" y="2071751"/>
            <a:ext cx="1054018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Bahnschrift Light" panose="020B0502040204020203" pitchFamily="34" charset="0"/>
              </a:rPr>
              <a:t>data = {</a:t>
            </a:r>
          </a:p>
          <a:p>
            <a:r>
              <a:rPr lang="en-US" sz="1200" dirty="0">
                <a:latin typeface="Bahnschrift Light" panose="020B0502040204020203" pitchFamily="34" charset="0"/>
              </a:rPr>
              <a:t>    'user': ['Alice', 'Bob', 'Charlie', 'David', 'Emma', 'Frank', 'Grace', 'Henry', 'Iris', 'Jack',</a:t>
            </a:r>
          </a:p>
          <a:p>
            <a:r>
              <a:rPr lang="en-US" sz="1200" dirty="0">
                <a:latin typeface="Bahnschrift Light" panose="020B0502040204020203" pitchFamily="34" charset="0"/>
              </a:rPr>
              <a:t>             'Kelly', 'Liam', 'Mia', 'Noah', 'Olivia', 'Peter', 'Quinn', 'Rachel', 'Sam', 'Tina'],</a:t>
            </a:r>
          </a:p>
          <a:p>
            <a:r>
              <a:rPr lang="en-US" sz="1200" dirty="0">
                <a:latin typeface="Bahnschrift Light" panose="020B0502040204020203" pitchFamily="34" charset="0"/>
              </a:rPr>
              <a:t>    'province': ['Bangkok', 'Bangkok', 'Chiang Mai', 'Bangkok', 'Phuket', </a:t>
            </a:r>
          </a:p>
          <a:p>
            <a:r>
              <a:rPr lang="en-US" sz="1200" dirty="0">
                <a:latin typeface="Bahnschrift Light" panose="020B0502040204020203" pitchFamily="34" charset="0"/>
              </a:rPr>
              <a:t>                 'Chiang Mai', 'Bangkok', 'Phuket', 'Chiang Mai', 'Bangkok',</a:t>
            </a:r>
          </a:p>
          <a:p>
            <a:r>
              <a:rPr lang="en-US" sz="1200" dirty="0">
                <a:latin typeface="Bahnschrift Light" panose="020B0502040204020203" pitchFamily="34" charset="0"/>
              </a:rPr>
              <a:t>                 'Phuket', 'Bangkok', 'Chiang Mai', 'Bangkok', 'Phuket',</a:t>
            </a:r>
          </a:p>
          <a:p>
            <a:r>
              <a:rPr lang="en-US" sz="1200" dirty="0">
                <a:latin typeface="Bahnschrift Light" panose="020B0502040204020203" pitchFamily="34" charset="0"/>
              </a:rPr>
              <a:t>                 'Chiang Mai', 'Bangkok', 'Phuket', 'Chiang Mai', 'Bangkok'],</a:t>
            </a:r>
          </a:p>
          <a:p>
            <a:r>
              <a:rPr lang="en-US" sz="1200" dirty="0">
                <a:latin typeface="Bahnschrift Light" panose="020B0502040204020203" pitchFamily="34" charset="0"/>
              </a:rPr>
              <a:t>    'age': [25, 34, 28, 45, 31, 29, 52, 38, 27, 41,</a:t>
            </a:r>
          </a:p>
          <a:p>
            <a:r>
              <a:rPr lang="en-US" sz="1200" dirty="0">
                <a:latin typeface="Bahnschrift Light" panose="020B0502040204020203" pitchFamily="34" charset="0"/>
              </a:rPr>
              <a:t>            33, 26, 48, 35, 30, 44, 39, 28, 50, 32],</a:t>
            </a:r>
          </a:p>
          <a:p>
            <a:r>
              <a:rPr lang="en-US" sz="1200" dirty="0">
                <a:latin typeface="Bahnschrift Light" panose="020B0502040204020203" pitchFamily="34" charset="0"/>
              </a:rPr>
              <a:t>    'income': [35000, 48000, 32000, 65000, 42000, </a:t>
            </a:r>
          </a:p>
          <a:p>
            <a:r>
              <a:rPr lang="en-US" sz="1200" dirty="0">
                <a:latin typeface="Bahnschrift Light" panose="020B0502040204020203" pitchFamily="34" charset="0"/>
              </a:rPr>
              <a:t>               38000, 75000, 55000, 30000, 62000,</a:t>
            </a:r>
          </a:p>
          <a:p>
            <a:r>
              <a:rPr lang="en-US" sz="1200" dirty="0">
                <a:latin typeface="Bahnschrift Light" panose="020B0502040204020203" pitchFamily="34" charset="0"/>
              </a:rPr>
              <a:t>               45000, 36000, None, 58000, 47000,</a:t>
            </a:r>
          </a:p>
          <a:p>
            <a:r>
              <a:rPr lang="en-US" sz="1200" dirty="0">
                <a:latin typeface="Bahnschrift Light" panose="020B0502040204020203" pitchFamily="34" charset="0"/>
              </a:rPr>
              <a:t>               None, 68000, 43000, 52000, 40000],</a:t>
            </a:r>
          </a:p>
          <a:p>
            <a:r>
              <a:rPr lang="en-US" sz="1200" dirty="0">
                <a:latin typeface="Bahnschrift Light" panose="020B0502040204020203" pitchFamily="34" charset="0"/>
              </a:rPr>
              <a:t>    'spending': [25000, 35000, 28000, 45000, 38000,</a:t>
            </a:r>
          </a:p>
          <a:p>
            <a:r>
              <a:rPr lang="en-US" sz="1200" dirty="0">
                <a:latin typeface="Bahnschrift Light" panose="020B0502040204020203" pitchFamily="34" charset="0"/>
              </a:rPr>
              <a:t>                 32000, 55000, 48000, 25000, 50000,</a:t>
            </a:r>
          </a:p>
          <a:p>
            <a:r>
              <a:rPr lang="en-US" sz="1200" dirty="0">
                <a:latin typeface="Bahnschrift Light" panose="020B0502040204020203" pitchFamily="34" charset="0"/>
              </a:rPr>
              <a:t>                 40000, 30000, 42000, 48000, 42000,</a:t>
            </a:r>
          </a:p>
          <a:p>
            <a:r>
              <a:rPr lang="en-US" sz="1200" dirty="0">
                <a:latin typeface="Bahnschrift Light" panose="020B0502040204020203" pitchFamily="34" charset="0"/>
              </a:rPr>
              <a:t>                 38000, 52000, 39000, 45000, 35000],</a:t>
            </a:r>
          </a:p>
          <a:p>
            <a:r>
              <a:rPr lang="en-US" sz="1200" dirty="0">
                <a:latin typeface="Bahnschrift Light" panose="020B0502040204020203" pitchFamily="34" charset="0"/>
              </a:rPr>
              <a:t>    'debt': [50000, 120000, 0, 200000, 80000,</a:t>
            </a:r>
          </a:p>
          <a:p>
            <a:r>
              <a:rPr lang="en-US" sz="1200" dirty="0">
                <a:latin typeface="Bahnschrift Light" panose="020B0502040204020203" pitchFamily="34" charset="0"/>
              </a:rPr>
              <a:t>             30000, 150000, 95000, 0, 180000,</a:t>
            </a:r>
          </a:p>
          <a:p>
            <a:r>
              <a:rPr lang="en-US" sz="1200" dirty="0">
                <a:latin typeface="Bahnschrift Light" panose="020B0502040204020203" pitchFamily="34" charset="0"/>
              </a:rPr>
              <a:t>             100000, 45000, 70000, None, 88000,</a:t>
            </a:r>
          </a:p>
          <a:p>
            <a:r>
              <a:rPr lang="en-US" sz="1200" dirty="0">
                <a:latin typeface="Bahnschrift Light" panose="020B0502040204020203" pitchFamily="34" charset="0"/>
              </a:rPr>
              <a:t>             110000, 175000, 92000, 140000, 65000]</a:t>
            </a:r>
          </a:p>
          <a:p>
            <a:r>
              <a:rPr lang="en-US" sz="1200" dirty="0">
                <a:latin typeface="Bahnschrift Light" panose="020B0502040204020203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40594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F2119-450B-022C-037F-2750DBCAB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9F39C0-4E8A-4990-AFE4-D272CB9741FC}"/>
              </a:ext>
            </a:extLst>
          </p:cNvPr>
          <p:cNvSpPr txBox="1"/>
          <p:nvPr/>
        </p:nvSpPr>
        <p:spPr>
          <a:xfrm>
            <a:off x="796412" y="1118022"/>
            <a:ext cx="10540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Example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529A22-054D-6771-7B44-D72A9470D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12" y="2081012"/>
            <a:ext cx="7978831" cy="39017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9031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9F72-5A97-3272-14F1-711073AE4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37C651-4DAB-385C-3D8E-88AA7523F8C4}"/>
              </a:ext>
            </a:extLst>
          </p:cNvPr>
          <p:cNvSpPr txBox="1"/>
          <p:nvPr/>
        </p:nvSpPr>
        <p:spPr>
          <a:xfrm>
            <a:off x="796412" y="1118022"/>
            <a:ext cx="10540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Example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B6C2F2-6D94-B220-0C61-3E79FC18E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12" y="2081012"/>
            <a:ext cx="7978831" cy="39017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7189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68307-9ADE-2179-2056-8D61F24A2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D1F198-908E-9EE0-7E80-82AD48831EFC}"/>
              </a:ext>
            </a:extLst>
          </p:cNvPr>
          <p:cNvSpPr txBox="1"/>
          <p:nvPr/>
        </p:nvSpPr>
        <p:spPr>
          <a:xfrm>
            <a:off x="796412" y="1118022"/>
            <a:ext cx="105401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DataFrame - </a:t>
            </a:r>
            <a:r>
              <a:rPr lang="en-US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Infomation</a:t>
            </a:r>
            <a:endParaRPr lang="en-US" sz="4400" dirty="0">
              <a:solidFill>
                <a:schemeClr val="tx1">
                  <a:lumMod val="75000"/>
                  <a:lumOff val="25000"/>
                </a:schemeClr>
              </a:solidFill>
              <a:latin typeface="Anuphan" pitchFamily="2" charset="-34"/>
              <a:cs typeface="Anuphan" pitchFamily="2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C48ADF-199B-ECED-DE77-EEEDD947F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12" y="2212032"/>
            <a:ext cx="8040222" cy="22291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6786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6A174-AAFC-77D1-E652-606E08793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863A11-5251-F10B-2E39-DB360D9753AA}"/>
              </a:ext>
            </a:extLst>
          </p:cNvPr>
          <p:cNvSpPr txBox="1"/>
          <p:nvPr/>
        </p:nvSpPr>
        <p:spPr>
          <a:xfrm>
            <a:off x="796412" y="1118022"/>
            <a:ext cx="10540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DataFrame – Column Selection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9EE6A7-9235-8670-2F62-4DAB5426E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12" y="2148540"/>
            <a:ext cx="5909188" cy="20747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A9F55D-8A50-068D-D2FD-88B474182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111" y="2139146"/>
            <a:ext cx="2426834" cy="43351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5265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7A680-99F5-13C4-231F-61112A973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D0B5EE-8C6E-D5AE-1272-52FF4A4068DE}"/>
              </a:ext>
            </a:extLst>
          </p:cNvPr>
          <p:cNvSpPr txBox="1"/>
          <p:nvPr/>
        </p:nvSpPr>
        <p:spPr>
          <a:xfrm>
            <a:off x="796412" y="1118022"/>
            <a:ext cx="105401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DataFrame – Row Selection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CEC449-96DC-BA72-975F-DD8FF1BF9D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831"/>
          <a:stretch>
            <a:fillRect/>
          </a:stretch>
        </p:blipFill>
        <p:spPr>
          <a:xfrm>
            <a:off x="796412" y="2774136"/>
            <a:ext cx="3706762" cy="23056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17D443-E898-68D4-6964-BE0A18AF8564}"/>
              </a:ext>
            </a:extLst>
          </p:cNvPr>
          <p:cNvSpPr txBox="1"/>
          <p:nvPr/>
        </p:nvSpPr>
        <p:spPr>
          <a:xfrm>
            <a:off x="796412" y="1843258"/>
            <a:ext cx="105401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Start with True-False Array of each row. When an True-False array is put in the DataFrame it will select only the true row.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AE4550-798B-ADF8-32B7-4D27D6341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513" y="2774135"/>
            <a:ext cx="6671521" cy="23056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7074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9DF31-F4A9-8346-F534-E106B7DF3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0D94ED-A701-5A70-BFC5-5CE781949EB9}"/>
              </a:ext>
            </a:extLst>
          </p:cNvPr>
          <p:cNvSpPr txBox="1"/>
          <p:nvPr/>
        </p:nvSpPr>
        <p:spPr>
          <a:xfrm>
            <a:off x="796412" y="1118022"/>
            <a:ext cx="105401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DataFrame – Row Selection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BF4B99-A77C-B715-CD5C-35D5518EB1F0}"/>
              </a:ext>
            </a:extLst>
          </p:cNvPr>
          <p:cNvSpPr txBox="1"/>
          <p:nvPr/>
        </p:nvSpPr>
        <p:spPr>
          <a:xfrm>
            <a:off x="796412" y="1843258"/>
            <a:ext cx="10540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Define the condition (Who earns more than 50,000?)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6A5410-6A03-DA78-2B71-071429F12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546" y="3570131"/>
            <a:ext cx="4023709" cy="16917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869DF5-0902-81DB-238B-E0BF4E5B2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546" y="2491476"/>
            <a:ext cx="6978485" cy="8613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99A520-EE78-D7C0-4788-F7C72B63FDA4}"/>
              </a:ext>
            </a:extLst>
          </p:cNvPr>
          <p:cNvSpPr txBox="1"/>
          <p:nvPr/>
        </p:nvSpPr>
        <p:spPr>
          <a:xfrm>
            <a:off x="5152103" y="3668453"/>
            <a:ext cx="561422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In the picture we show only the first 5 rows from all 20 rows by using .head(5). </a:t>
            </a:r>
            <a:b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</a:b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  <a:latin typeface="Anuphan" pitchFamily="2" charset="-34"/>
              <a:cs typeface="Anuphan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33880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3A5FC-4FDC-14D6-7467-4E8735A73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6278C7-1621-5CED-55F4-1EB3A8825DF8}"/>
              </a:ext>
            </a:extLst>
          </p:cNvPr>
          <p:cNvSpPr txBox="1"/>
          <p:nvPr/>
        </p:nvSpPr>
        <p:spPr>
          <a:xfrm>
            <a:off x="796412" y="1118022"/>
            <a:ext cx="105401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DataFrame – Row Selection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496B9E-C357-C88F-4099-8F514C2E9B27}"/>
              </a:ext>
            </a:extLst>
          </p:cNvPr>
          <p:cNvSpPr txBox="1"/>
          <p:nvPr/>
        </p:nvSpPr>
        <p:spPr>
          <a:xfrm>
            <a:off x="796412" y="1843258"/>
            <a:ext cx="105401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Put the condition in the DataFrame and displayed. It will show only users who have income greater than 50,000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E09088-1AED-6352-BA0A-E967F44A7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12" y="2730862"/>
            <a:ext cx="7207045" cy="12141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320884-9903-3201-F338-0A8EAF6BB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12" y="4172542"/>
            <a:ext cx="7016023" cy="20119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33526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29980-7D14-0691-2F3D-CDC43ED92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7C701B-48F6-A92B-AB62-A97188C02007}"/>
              </a:ext>
            </a:extLst>
          </p:cNvPr>
          <p:cNvSpPr txBox="1"/>
          <p:nvPr/>
        </p:nvSpPr>
        <p:spPr>
          <a:xfrm>
            <a:off x="796412" y="1118022"/>
            <a:ext cx="105401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DataFrame – Row Selection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19BE9C-EA76-669F-4AB9-0184E77BEB24}"/>
              </a:ext>
            </a:extLst>
          </p:cNvPr>
          <p:cNvSpPr txBox="1"/>
          <p:nvPr/>
        </p:nvSpPr>
        <p:spPr>
          <a:xfrm>
            <a:off x="796412" y="1843258"/>
            <a:ext cx="10540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You can use AND (&amp;) OR (|) NOT(~) operator in condition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B779C5-65AA-2AD9-392F-761866A70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144" y="2612699"/>
            <a:ext cx="10323712" cy="23097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45483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EE96C-6B06-2723-5C3E-E1E158FB8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A1FE21-6D24-2A00-3F4E-D90F7BFFD0AC}"/>
              </a:ext>
            </a:extLst>
          </p:cNvPr>
          <p:cNvSpPr txBox="1"/>
          <p:nvPr/>
        </p:nvSpPr>
        <p:spPr>
          <a:xfrm>
            <a:off x="796412" y="1118022"/>
            <a:ext cx="105401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DataFrame – Create Column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0582CA-CC5D-52D8-9A69-3C4A9B079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867" y="1887463"/>
            <a:ext cx="8306959" cy="46488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92D7CD-5329-FD72-04F9-4E3BE4FEF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826" y="2147821"/>
            <a:ext cx="5518870" cy="6445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71918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B3001-F195-2E66-5CAF-6BC177DD7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3CB736-EF9F-817F-A723-AEF866C4E89B}"/>
              </a:ext>
            </a:extLst>
          </p:cNvPr>
          <p:cNvSpPr txBox="1"/>
          <p:nvPr/>
        </p:nvSpPr>
        <p:spPr>
          <a:xfrm>
            <a:off x="796412" y="1118022"/>
            <a:ext cx="105401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DataFrame – Sort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88B5AA-8076-67FF-A023-5982616A7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07" y="2092932"/>
            <a:ext cx="10481186" cy="10006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5166F2-69AE-112C-7A48-8544FD233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07" y="3299053"/>
            <a:ext cx="6839905" cy="31627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9059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4A84F-31A2-7A53-41F0-58CEC1E64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B4E434-3534-D345-B0B2-665DC841DD9A}"/>
              </a:ext>
            </a:extLst>
          </p:cNvPr>
          <p:cNvSpPr txBox="1"/>
          <p:nvPr/>
        </p:nvSpPr>
        <p:spPr>
          <a:xfrm>
            <a:off x="796412" y="1118022"/>
            <a:ext cx="105401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nuphan" pitchFamily="2" charset="-34"/>
                <a:cs typeface="Anuphan" pitchFamily="2" charset="-34"/>
              </a:rPr>
              <a:t>DataFrame – Group By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B3770B-29CD-021F-B9DC-D1B0DA367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12" y="2035411"/>
            <a:ext cx="8986814" cy="11749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F26DC2-EDFB-EC62-AA5D-A7F9437E3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12" y="3358314"/>
            <a:ext cx="5073446" cy="28922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2391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419</Words>
  <Application>Microsoft Office PowerPoint</Application>
  <PresentationFormat>Widescreen</PresentationFormat>
  <Paragraphs>40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Anuphan</vt:lpstr>
      <vt:lpstr>Aptos Display</vt:lpstr>
      <vt:lpstr>Arial</vt:lpstr>
      <vt:lpstr>Bahnschrift Light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Kritsada Chan-inn</dc:creator>
  <cp:lastModifiedBy>Kritsada Chan-inn</cp:lastModifiedBy>
  <cp:revision>9</cp:revision>
  <dcterms:created xsi:type="dcterms:W3CDTF">2026-04-15T05:16:31Z</dcterms:created>
  <dcterms:modified xsi:type="dcterms:W3CDTF">2026-04-15T06:02:40Z</dcterms:modified>
</cp:coreProperties>
</file>