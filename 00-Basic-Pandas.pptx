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3" r:id="rId17"/>
    <p:sldId id="275" r:id="rId18"/>
    <p:sldId id="276" r:id="rId19"/>
    <p:sldId id="277" r:id="rId20"/>
    <p:sldId id="278" r:id="rId21"/>
    <p:sldId id="279" r:id="rId22"/>
    <p:sldId id="280" r:id="rId23"/>
    <p:sldId id="281" r:id="rId24"/>
  </p:sldIdLst>
  <p:sldSz cx="12192000" cy="6858000"/>
  <p:notesSz cx="6858000" cy="9144000"/>
  <p:embeddedFontLst>
    <p:embeddedFont>
      <p:font typeface="Anuphan" pitchFamily="2" charset="-34"/>
      <p:regular r:id="rId25"/>
      <p:bold r:id="rId26"/>
    </p:embeddedFont>
    <p:embeddedFont>
      <p:font typeface="Bahnschrift Light" panose="020B0502040204020203" pitchFamily="3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9BE23-9E98-F884-7ADA-EB012F053C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E54D80-B11E-38FE-836A-E0DFBA0CA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36EBE-537E-ACEF-6790-1176DDE37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51F58-4035-D38E-2664-8B2FEFD2C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9056-66D7-0DEA-77A0-C9E7BF1E5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27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A81CC-B647-E6BB-4886-B014C86FA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FD53D-5DF9-3C54-D7D6-CD8E201E5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4A89D-CA4E-CA4B-10DE-31CA02C01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69E19-BF75-1E4A-407C-7FFD14F54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0E05F-E894-7860-5CB4-59D0359EA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657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D3708-CA43-735F-9DDD-12B361BC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2D17D-40A4-C33F-5E3C-38C777EBC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2BD7A-EB46-3415-2D95-413E854B4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B64C1-6E47-66BB-8A35-AC08FA8F2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CE94E-6AD6-0304-838C-490E728EB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447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2F09C-0486-ECF6-ED99-5E35B2091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98F9-4C05-F84F-6750-CCF73F19CB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68FF90-F8D4-809F-C4C6-B8E01C46B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6CA87-1B4E-5A01-63FA-BD034B159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D5F95-05CD-A73B-8A18-71A9AF55E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C7741-57CB-43F4-16C4-E08D519C0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788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D81E7-B5A9-72CF-B020-85BA2FAA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DF6070-F2D7-AF87-070C-62A448211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85160-73C6-E601-C979-77868EFF0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605962-C6C8-1675-3303-8A40916915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D7DD69-B2C2-307D-5212-0260C65BD9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7BEBC9-B42E-DC8F-E4DE-4563994AB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9C8AA0-5315-C6B0-DF98-D6DD94F4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3CF337-8CCB-42E4-1044-F23CDD5D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18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AE52-315F-CB64-8DD9-8D0E0361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C2899-43BA-3CA1-76D4-7A0191BF3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AB8D89-BBB4-CB75-5DA6-DE547FF74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A919E6-44C4-1285-EEEE-13BE654D3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87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242BA9-1186-D5EE-561D-724F4B37B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3C9D63-F790-80A4-02CF-A5B9E4828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9DBA0-AAE2-8DD5-6558-EE2738C44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598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D69A1-2BAB-7219-1611-0412DB6CC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CA40A-A4F5-0C33-B02D-B590C9089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CD7E75-8EDA-64E4-C764-F200536BC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1F6EC-F7A7-2473-E1FC-D66E5E6C7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B2D744-3FA2-28BF-2A77-F4D3ADE93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C4CDA2-87F0-0A80-E16B-0C74F794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04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7FCC-B4FA-787A-29AF-E79CD9F2C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CE7872-5BCF-B01D-C620-590440D0A6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5F352-22A3-B98D-D359-4822F2D04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878E2-B41C-1972-3704-768F1E27B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8AC05-F420-AAC4-56F8-475BB4194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A4E72D-5A0E-3972-5EF6-B8F3C0D18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55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7A0C9-250C-D9D0-731F-EDD176AB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F818C1-F608-4BB3-DE7F-7D5EA549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86E998-C59B-BFDA-83BF-509EFED3E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13E19-0824-0A12-E8CD-DA888CE47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512B2-3008-9164-5AAF-631FD838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894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BA0A60-FB46-5A23-FEFE-AE6EA351D5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9C090C-1F00-DDE4-A620-F96ADA69F2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CA8D3-5C4F-23AC-D963-06CBE9D8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903CC-8834-9129-C998-912578546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C30A0-E7B1-7080-BA73-578B61BC5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59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CA0C90-EDE0-D357-2F34-922832700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473489-C04B-0C93-11FF-6F2AFFF3E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088DB-40B9-02DF-0914-7AB31C9EB3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8CDDB-820E-43FE-983B-5D4895E9E6F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94868-20EF-8B8D-A8BE-0C680F6460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99FAC-6A16-773F-DFAD-91BB302BD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F6DA65-B836-4229-9067-3EC2F5E1B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138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8267A6-3D56-0EA0-0EE4-5D374267A89D}"/>
              </a:ext>
            </a:extLst>
          </p:cNvPr>
          <p:cNvSpPr txBox="1"/>
          <p:nvPr/>
        </p:nvSpPr>
        <p:spPr>
          <a:xfrm>
            <a:off x="1567543" y="2828835"/>
            <a:ext cx="89329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Basic Pandas</a:t>
            </a:r>
          </a:p>
        </p:txBody>
      </p:sp>
    </p:spTree>
    <p:extLst>
      <p:ext uri="{BB962C8B-B14F-4D97-AF65-F5344CB8AC3E}">
        <p14:creationId xmlns:p14="http://schemas.microsoft.com/office/powerpoint/2010/main" val="2517302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AB28-AAD7-931F-8633-F788F587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931F3F-1126-8C8F-0F3E-1AD180B94C20}"/>
              </a:ext>
            </a:extLst>
          </p:cNvPr>
          <p:cNvSpPr txBox="1"/>
          <p:nvPr/>
        </p:nvSpPr>
        <p:spPr>
          <a:xfrm>
            <a:off x="796412" y="1118022"/>
            <a:ext cx="10540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Example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C5DDE7-31F1-0998-3A72-118640407F2B}"/>
              </a:ext>
            </a:extLst>
          </p:cNvPr>
          <p:cNvSpPr txBox="1"/>
          <p:nvPr/>
        </p:nvSpPr>
        <p:spPr>
          <a:xfrm>
            <a:off x="796411" y="2071751"/>
            <a:ext cx="105401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Bahnschrift Light" panose="020B0502040204020203" pitchFamily="34" charset="0"/>
              </a:rPr>
              <a:t>data = {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'user': ['Alice', 'Bob', 'Charlie', 'David', 'Emma', 'Frank', 'Grace', 'Henry', 'Iris', 'Jack',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'Kelly', 'Liam', 'Mia', 'Noah', 'Olivia', 'Peter', 'Quinn', 'Rachel', 'Sam', 'Tina'],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'province': ['Bangkok', 'Bangkok', 'Chiang Mai', 'Bangkok', 'Phuket', 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'Chiang Mai', 'Bangkok', 'Phuket', 'Chiang Mai', 'Bangkok',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'Phuket', 'Bangkok', 'Chiang Mai', 'Bangkok', 'Phuket',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'Chiang Mai', 'Bangkok', 'Phuket', 'Chiang Mai', 'Bangkok'],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'age': [25, 34, 28, 45, 31, 29, 52, 38, 27, 41,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33, 26, 48, 35, 30, 44, 39, 28, 50, 32],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'income': [35000, 48000, 32000, 65000, 42000, 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38000, 75000, 55000, 30000, 62000,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45000, 36000, None, 58000, 47000,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None, 68000, 43000, 52000, 40000],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'spending': [25000, 35000, 28000, 45000, 38000,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32000, 55000, 48000, 25000, 50000,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40000, 30000, 42000, 48000, 42000,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    38000, 52000, 39000, 45000, 35000],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'debt': [50000, 120000, 0, 200000, 80000,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30000, 150000, 95000, 0, 180000,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100000, 45000, 70000, None, 88000,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             110000, 175000, 92000, 140000, 65000]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40594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F2119-450B-022C-037F-2750DBCA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9F39C0-4E8A-4990-AFE4-D272CB9741FC}"/>
              </a:ext>
            </a:extLst>
          </p:cNvPr>
          <p:cNvSpPr txBox="1"/>
          <p:nvPr/>
        </p:nvSpPr>
        <p:spPr>
          <a:xfrm>
            <a:off x="796412" y="1118022"/>
            <a:ext cx="10540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Example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529A22-054D-6771-7B44-D72A9470D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081012"/>
            <a:ext cx="7978831" cy="39017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903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9F72-5A97-3272-14F1-711073AE4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37C651-4DAB-385C-3D8E-88AA7523F8C4}"/>
              </a:ext>
            </a:extLst>
          </p:cNvPr>
          <p:cNvSpPr txBox="1"/>
          <p:nvPr/>
        </p:nvSpPr>
        <p:spPr>
          <a:xfrm>
            <a:off x="796412" y="1118022"/>
            <a:ext cx="10540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Example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B6C2F2-6D94-B220-0C61-3E79FC18E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081012"/>
            <a:ext cx="7978831" cy="39017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7189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68307-9ADE-2179-2056-8D61F24A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7D1F198-908E-9EE0-7E80-82AD48831EFC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- </a:t>
            </a:r>
            <a:r>
              <a:rPr lang="en-US" sz="4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Infomation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C48ADF-199B-ECED-DE77-EEEDD947F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212032"/>
            <a:ext cx="8040222" cy="222916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6786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6A174-AAFC-77D1-E652-606E08793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863A11-5251-F10B-2E39-DB360D9753AA}"/>
              </a:ext>
            </a:extLst>
          </p:cNvPr>
          <p:cNvSpPr txBox="1"/>
          <p:nvPr/>
        </p:nvSpPr>
        <p:spPr>
          <a:xfrm>
            <a:off x="796412" y="1118022"/>
            <a:ext cx="10540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Column Selection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9EE6A7-9235-8670-2F62-4DAB5426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148540"/>
            <a:ext cx="5909188" cy="20747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A9F55D-8A50-068D-D2FD-88B474182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111" y="2139146"/>
            <a:ext cx="2426834" cy="433511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5265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7A680-99F5-13C4-231F-61112A973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1D0B5EE-8C6E-D5AE-1272-52FF4A4068DE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Row Selection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EC449-96DC-BA72-975F-DD8FF1BF9D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831"/>
          <a:stretch>
            <a:fillRect/>
          </a:stretch>
        </p:blipFill>
        <p:spPr>
          <a:xfrm>
            <a:off x="796412" y="2774136"/>
            <a:ext cx="3706762" cy="230566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17D443-E898-68D4-6964-BE0A18AF8564}"/>
              </a:ext>
            </a:extLst>
          </p:cNvPr>
          <p:cNvSpPr txBox="1"/>
          <p:nvPr/>
        </p:nvSpPr>
        <p:spPr>
          <a:xfrm>
            <a:off x="796412" y="1843258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Start with True-False Array of each row. When an True-False array is put in the DataFrame it will select only the true row.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AE4550-798B-ADF8-32B7-4D27D634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513" y="2774135"/>
            <a:ext cx="6671521" cy="23056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07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9DF31-F4A9-8346-F534-E106B7D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0D94ED-A701-5A70-BFC5-5CE781949EB9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Row Selection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F4B99-A77C-B715-CD5C-35D5518EB1F0}"/>
              </a:ext>
            </a:extLst>
          </p:cNvPr>
          <p:cNvSpPr txBox="1"/>
          <p:nvPr/>
        </p:nvSpPr>
        <p:spPr>
          <a:xfrm>
            <a:off x="796412" y="1843258"/>
            <a:ext cx="105401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Define the condition (Who earns more than 50,000?)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6A5410-6A03-DA78-2B71-071429F12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46" y="3570131"/>
            <a:ext cx="4023709" cy="16917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69DF5-0902-81DB-238B-E0BF4E5B2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546" y="2491476"/>
            <a:ext cx="6978485" cy="86132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99A520-EE78-D7C0-4788-F7C72B63FDA4}"/>
              </a:ext>
            </a:extLst>
          </p:cNvPr>
          <p:cNvSpPr txBox="1"/>
          <p:nvPr/>
        </p:nvSpPr>
        <p:spPr>
          <a:xfrm>
            <a:off x="5152103" y="3668453"/>
            <a:ext cx="56142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In the picture we show only the first 5 rows from all 20 rows by using .head(5). </a:t>
            </a:r>
            <a:b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</a:br>
            <a:endParaRPr lang="en-US" sz="2200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133880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A5FC-4FDC-14D6-7467-4E8735A73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6278C7-1621-5CED-55F4-1EB3A8825DF8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Row Selection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96B9E-C357-C88F-4099-8F514C2E9B27}"/>
              </a:ext>
            </a:extLst>
          </p:cNvPr>
          <p:cNvSpPr txBox="1"/>
          <p:nvPr/>
        </p:nvSpPr>
        <p:spPr>
          <a:xfrm>
            <a:off x="796412" y="1843258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Put the condition in the DataFrame and displayed. It will show only users who have income greater than 50,000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09088-1AED-6352-BA0A-E967F44A7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730862"/>
            <a:ext cx="7207045" cy="121414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320884-9903-3201-F338-0A8EAF6BB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12" y="4172542"/>
            <a:ext cx="7016023" cy="20119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33526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29980-7D14-0691-2F3D-CDC43ED92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7C701B-48F6-A92B-AB62-A97188C02007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Row Selection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19BE9C-EA76-669F-4AB9-0184E77BEB24}"/>
              </a:ext>
            </a:extLst>
          </p:cNvPr>
          <p:cNvSpPr txBox="1"/>
          <p:nvPr/>
        </p:nvSpPr>
        <p:spPr>
          <a:xfrm>
            <a:off x="796412" y="1843258"/>
            <a:ext cx="105401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You can use AND (&amp;) OR (|) NOT(~) operator in condition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B779C5-65AA-2AD9-392F-761866A70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44" y="2612699"/>
            <a:ext cx="10323712" cy="230971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45483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EE96C-6B06-2723-5C3E-E1E158FB8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A1FE21-6D24-2A00-3F4E-D90F7BFFD0AC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Create Column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0582CA-CC5D-52D8-9A69-3C4A9B079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67" y="1887463"/>
            <a:ext cx="8306959" cy="46488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92D7CD-5329-FD72-04F9-4E3BE4FE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826" y="2147821"/>
            <a:ext cx="5518870" cy="64454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71918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3001-F195-2E66-5CAF-6BC177DD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3CB736-EF9F-817F-A723-AEF866C4E89B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Sort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88B5AA-8076-67FF-A023-5982616A7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07" y="2092932"/>
            <a:ext cx="10481186" cy="10006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5166F2-69AE-112C-7A48-8544FD233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07" y="3299053"/>
            <a:ext cx="6839905" cy="31627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9059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4A84F-31A2-7A53-41F0-58CEC1E6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B4E434-3534-D345-B0B2-665DC841DD9A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Group By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B3770B-29CD-021F-B9DC-D1B0DA367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035411"/>
            <a:ext cx="8986814" cy="11749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F26DC2-EDFB-EC62-AA5D-A7F9437E3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12" y="3358314"/>
            <a:ext cx="5073446" cy="28922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2391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4D56B-5614-3A56-8883-908285FB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469AF8-C314-D311-620D-2DB8DEB3D66E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DataFrame – Group By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A11626-E7A0-8E2C-53A6-98CA2FEC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2035411"/>
            <a:ext cx="8986814" cy="11749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530E66-BAC3-27CE-F7F6-20FF5B74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12" y="3358314"/>
            <a:ext cx="5073446" cy="28922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47578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76385-8198-6AAA-7FA1-CE9074C0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CCB696-BD1E-18DC-72C2-EEAA9F919778}"/>
              </a:ext>
            </a:extLst>
          </p:cNvPr>
          <p:cNvSpPr txBox="1"/>
          <p:nvPr/>
        </p:nvSpPr>
        <p:spPr>
          <a:xfrm>
            <a:off x="796412" y="3044279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Basic Aggregation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D055EF-CBE5-8ABA-7D7B-B6FD0AF26BD1}"/>
              </a:ext>
            </a:extLst>
          </p:cNvPr>
          <p:cNvSpPr txBox="1"/>
          <p:nvPr/>
        </p:nvSpPr>
        <p:spPr>
          <a:xfrm>
            <a:off x="796411" y="3813720"/>
            <a:ext cx="10540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01 basic pandas practice</a:t>
            </a:r>
          </a:p>
        </p:txBody>
      </p:sp>
    </p:spTree>
    <p:extLst>
      <p:ext uri="{BB962C8B-B14F-4D97-AF65-F5344CB8AC3E}">
        <p14:creationId xmlns:p14="http://schemas.microsoft.com/office/powerpoint/2010/main" val="1751798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E4CBA-0297-0B80-3EA2-AD675DF75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F2DB9F-A5DE-0821-BACF-439BFF0BAA66}"/>
              </a:ext>
            </a:extLst>
          </p:cNvPr>
          <p:cNvSpPr txBox="1"/>
          <p:nvPr/>
        </p:nvSpPr>
        <p:spPr>
          <a:xfrm>
            <a:off x="796412" y="1118022"/>
            <a:ext cx="10540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Example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B2CBC1-5690-ADFF-1301-CF212F95E505}"/>
              </a:ext>
            </a:extLst>
          </p:cNvPr>
          <p:cNvSpPr txBox="1"/>
          <p:nvPr/>
        </p:nvSpPr>
        <p:spPr>
          <a:xfrm>
            <a:off x="796411" y="2071751"/>
            <a:ext cx="105401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Bahnschrift Light" panose="020B0502040204020203" pitchFamily="34" charset="0"/>
              </a:rPr>
              <a:t>import pandas as pd</a:t>
            </a:r>
          </a:p>
          <a:p>
            <a:endParaRPr lang="en-US" sz="1200" dirty="0">
              <a:latin typeface="Bahnschrift Light" panose="020B0502040204020203" pitchFamily="34" charset="0"/>
            </a:endParaRPr>
          </a:p>
          <a:p>
            <a:r>
              <a:rPr lang="en-US" sz="1200" dirty="0">
                <a:latin typeface="Bahnschrift Light" panose="020B0502040204020203" pitchFamily="34" charset="0"/>
              </a:rPr>
              <a:t>data = {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    "name":       ["Alice", "Bob", "Charlie", "Diana", "Eve", "Frank"],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    "department": ["HR", "IT", "IT", "Finance", "HR", "Finance"],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    "salary":     [55000, 72000, 68000, 80000, 52000, 91000],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    "age":        [29, 34, 28, 41, 35, 47]</a:t>
            </a:r>
          </a:p>
          <a:p>
            <a:r>
              <a:rPr lang="en-US" sz="1200" dirty="0">
                <a:latin typeface="Bahnschrift Light" panose="020B0502040204020203" pitchFamily="34" charset="0"/>
              </a:rPr>
              <a:t>}</a:t>
            </a:r>
          </a:p>
          <a:p>
            <a:endParaRPr lang="en-US" sz="1200" dirty="0">
              <a:latin typeface="Bahnschrift Light" panose="020B0502040204020203" pitchFamily="34" charset="0"/>
            </a:endParaRPr>
          </a:p>
          <a:p>
            <a:r>
              <a:rPr lang="en-US" sz="1200" dirty="0" err="1">
                <a:latin typeface="Bahnschrift Light" panose="020B0502040204020203" pitchFamily="34" charset="0"/>
              </a:rPr>
              <a:t>df</a:t>
            </a:r>
            <a:r>
              <a:rPr lang="en-US" sz="1200" dirty="0">
                <a:latin typeface="Bahnschrift Light" panose="020B0502040204020203" pitchFamily="34" charset="0"/>
              </a:rPr>
              <a:t> = </a:t>
            </a:r>
            <a:r>
              <a:rPr lang="en-US" sz="1200" dirty="0" err="1">
                <a:latin typeface="Bahnschrift Light" panose="020B0502040204020203" pitchFamily="34" charset="0"/>
              </a:rPr>
              <a:t>pd.DataFrame</a:t>
            </a:r>
            <a:r>
              <a:rPr lang="en-US" sz="1200" dirty="0">
                <a:latin typeface="Bahnschrift Light" panose="020B0502040204020203" pitchFamily="34" charset="0"/>
              </a:rPr>
              <a:t>(data)</a:t>
            </a:r>
          </a:p>
        </p:txBody>
      </p:sp>
    </p:spTree>
    <p:extLst>
      <p:ext uri="{BB962C8B-B14F-4D97-AF65-F5344CB8AC3E}">
        <p14:creationId xmlns:p14="http://schemas.microsoft.com/office/powerpoint/2010/main" val="3760428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D703-E8BA-B637-B807-FC91A277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B4BC8B-5887-8B4D-684E-01791ACE410F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Basic Aggregation (whole column)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9336A5-8BBE-DC6E-543A-A36FB73AF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64" y="2446774"/>
            <a:ext cx="10218472" cy="29089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84828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88A5F-0F17-C534-3C7E-E8972A54F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07C231-40ED-F628-864D-AE353032E541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GROUP BY + single aggregate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1EC83A-631A-B468-8F33-7BB43F29D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248" y="2038499"/>
            <a:ext cx="9733504" cy="278100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99265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9A50-1CE7-04C3-3B61-00C07B553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5B10E8-AF78-08AF-278E-66D273FB7088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GROUP BY + multiple aggregates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26B23-EB2E-836F-C29B-FC95B40C7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76" y="1963566"/>
            <a:ext cx="7643448" cy="45823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378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03CBA-3AA4-83AD-C8B4-A286A4BBB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F3EAF60-9C9B-7568-738C-1230B52F0A16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GROUP BY multiple columns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76A8B4-4407-59AB-4DB8-06C6128B4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84" y="2133600"/>
            <a:ext cx="9445632" cy="17845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039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304E-AAE5-D823-E253-C082115E6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481265-E030-FC16-E6A5-340C1B5CA8C7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 HAVING (filter after group by)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D3BFF2-D5B5-436C-D19F-47A9D4997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182" y="2222090"/>
            <a:ext cx="10375636" cy="241382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5693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418A5-43AC-8C0E-F739-DB421DF3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B8C777-F2C8-0C32-CE37-B6BD87426404}"/>
              </a:ext>
            </a:extLst>
          </p:cNvPr>
          <p:cNvSpPr txBox="1"/>
          <p:nvPr/>
        </p:nvSpPr>
        <p:spPr>
          <a:xfrm>
            <a:off x="796412" y="1118022"/>
            <a:ext cx="105401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value_counts</a:t>
            </a: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 </a:t>
            </a:r>
          </a:p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(like COUNT + GROUP BY in one shot)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DEEAA6-FD6C-D8D2-A125-55E7EC394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207" y="2859541"/>
            <a:ext cx="9061586" cy="30463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016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C2DAA-35D5-518F-08BC-DE4BABBD5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1CFCFA-3DF5-DD19-0281-F616E6405DF4}"/>
              </a:ext>
            </a:extLst>
          </p:cNvPr>
          <p:cNvSpPr txBox="1"/>
          <p:nvPr/>
        </p:nvSpPr>
        <p:spPr>
          <a:xfrm>
            <a:off x="796412" y="1118022"/>
            <a:ext cx="105401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describe() — all stats at once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77C24-E348-FAA1-CD98-ED1F8405A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661" y="2163097"/>
            <a:ext cx="10014678" cy="19418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2010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573</Words>
  <Application>Microsoft Office PowerPoint</Application>
  <PresentationFormat>Widescreen</PresentationFormat>
  <Paragraphs>62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Bahnschrift Light</vt:lpstr>
      <vt:lpstr>Anuphan</vt:lpstr>
      <vt:lpstr>Aptos Display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Kritsada Chan-inn</dc:creator>
  <cp:lastModifiedBy>Kritsada Chan-inn</cp:lastModifiedBy>
  <cp:revision>13</cp:revision>
  <dcterms:created xsi:type="dcterms:W3CDTF">2026-04-15T05:16:31Z</dcterms:created>
  <dcterms:modified xsi:type="dcterms:W3CDTF">2026-04-16T07:03:50Z</dcterms:modified>
</cp:coreProperties>
</file>